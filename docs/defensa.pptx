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1005840"/>
            <a:ext cx="146304" cy="146304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3" name="Shape 1"/>
          <p:cNvSpPr/>
          <p:nvPr/>
        </p:nvSpPr>
        <p:spPr>
          <a:xfrm>
            <a:off x="11430000" y="1828800"/>
            <a:ext cx="146304" cy="146304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4" name="Shape 2"/>
          <p:cNvSpPr/>
          <p:nvPr/>
        </p:nvSpPr>
        <p:spPr>
          <a:xfrm>
            <a:off x="10241280" y="2377440"/>
            <a:ext cx="146304" cy="146304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5" name="Shape 3"/>
          <p:cNvSpPr/>
          <p:nvPr/>
        </p:nvSpPr>
        <p:spPr>
          <a:xfrm>
            <a:off x="11155680" y="3108960"/>
            <a:ext cx="146304" cy="146304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6" name="Shape 4"/>
          <p:cNvSpPr/>
          <p:nvPr/>
        </p:nvSpPr>
        <p:spPr>
          <a:xfrm>
            <a:off x="9966960" y="3840480"/>
            <a:ext cx="146304" cy="146304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7" name="Shape 5"/>
          <p:cNvSpPr/>
          <p:nvPr/>
        </p:nvSpPr>
        <p:spPr>
          <a:xfrm>
            <a:off x="10680192" y="1078992"/>
            <a:ext cx="822960" cy="822960"/>
          </a:xfrm>
          <a:prstGeom prst="line">
            <a:avLst/>
          </a:prstGeom>
          <a:noFill/>
          <a:ln w="12700">
            <a:solidFill>
              <a:srgbClr val="3A4A7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503152" y="1901952"/>
            <a:ext cx="-1188720" cy="548640"/>
          </a:xfrm>
          <a:prstGeom prst="line">
            <a:avLst/>
          </a:prstGeom>
          <a:noFill/>
          <a:ln w="12700">
            <a:solidFill>
              <a:srgbClr val="3A4A7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314432" y="2450592"/>
            <a:ext cx="914400" cy="731520"/>
          </a:xfrm>
          <a:prstGeom prst="line">
            <a:avLst/>
          </a:prstGeom>
          <a:noFill/>
          <a:ln w="12700">
            <a:solidFill>
              <a:srgbClr val="3A4A7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228832" y="3182112"/>
            <a:ext cx="-1188720" cy="731520"/>
          </a:xfrm>
          <a:prstGeom prst="line">
            <a:avLst/>
          </a:prstGeom>
          <a:noFill/>
          <a:ln w="12700">
            <a:solidFill>
              <a:srgbClr val="3A4A7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1005840"/>
            <a:ext cx="118872" cy="118872"/>
          </a:xfrm>
          <a:prstGeom prst="ellipse">
            <a:avLst/>
          </a:prstGeom>
          <a:solidFill>
            <a:srgbClr val="5B5BF5"/>
          </a:solidFill>
          <a:ln/>
        </p:spPr>
      </p:sp>
      <p:sp>
        <p:nvSpPr>
          <p:cNvPr id="12" name="Shape 10"/>
          <p:cNvSpPr/>
          <p:nvPr/>
        </p:nvSpPr>
        <p:spPr>
          <a:xfrm>
            <a:off x="749808" y="1005840"/>
            <a:ext cx="118872" cy="118872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3" name="Shape 11"/>
          <p:cNvSpPr/>
          <p:nvPr/>
        </p:nvSpPr>
        <p:spPr>
          <a:xfrm>
            <a:off x="950976" y="1005840"/>
            <a:ext cx="118872" cy="118872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13716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DEFENSA DE TESIS · INGENIERÍA DE SISTEMAS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1920240"/>
            <a:ext cx="9601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Prototipo de Sistema</a:t>
            </a:r>
            <a:endParaRPr lang="en-US" sz="52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para Domótica</a:t>
            </a:r>
            <a:endParaRPr lang="en-US" sz="5200" dirty="0"/>
          </a:p>
        </p:txBody>
      </p:sp>
      <p:sp>
        <p:nvSpPr>
          <p:cNvPr id="16" name="Text 14"/>
          <p:cNvSpPr/>
          <p:nvPr/>
        </p:nvSpPr>
        <p:spPr>
          <a:xfrm>
            <a:off x="548640" y="388620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remoto de cargas eléctricas en tiempo real — Smart Home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48640" y="52120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Valeryn Duque</a:t>
            </a:r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Juan Vrasmatas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8640" y="56235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· Node.js/Express · PostgreSQL · WebSocket · ESP8266 · Proteus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5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Controlar el hogar desde cualquier lugar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185855" y="502920"/>
            <a:ext cx="118872" cy="118872"/>
          </a:xfrm>
          <a:prstGeom prst="ellipse">
            <a:avLst/>
          </a:prstGeom>
          <a:solidFill>
            <a:srgbClr val="5B5BF5"/>
          </a:solidFill>
          <a:ln/>
        </p:spPr>
      </p:sp>
      <p:sp>
        <p:nvSpPr>
          <p:cNvPr id="5" name="Shape 3"/>
          <p:cNvSpPr/>
          <p:nvPr/>
        </p:nvSpPr>
        <p:spPr>
          <a:xfrm>
            <a:off x="11387023" y="502920"/>
            <a:ext cx="118872" cy="118872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6" name="Shape 4"/>
          <p:cNvSpPr/>
          <p:nvPr/>
        </p:nvSpPr>
        <p:spPr>
          <a:xfrm>
            <a:off x="11588191" y="502920"/>
            <a:ext cx="118872" cy="118872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828800"/>
            <a:ext cx="6035040" cy="3291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control de dispositivos eléctricos suele exigir presencia física o sistemas propietarios costosos y cerrados.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necesita una solución accesible, multiplataforma y en tiempo real que integre hardware, nube y aplicación móvil, con una latencia imperceptible entre la orden y la acción física.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949440" y="1828800"/>
            <a:ext cx="4663440" cy="3291840"/>
          </a:xfrm>
          <a:prstGeom prst="roundRect">
            <a:avLst>
              <a:gd name="adj" fmla="val 3333"/>
            </a:avLst>
          </a:prstGeom>
          <a:solidFill>
            <a:srgbClr val="0B1020"/>
          </a:solidFill>
          <a:ln/>
          <a:effectLst>
            <a:outerShdw sx="100000" sy="100000" kx="0" ky="0" algn="bl" rotWithShape="0" blurRad="101600" dist="38100" dir="5400000">
              <a:srgbClr val="0F172A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0" y="21488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CLAVE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0" y="251460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WebSockets sobre HTTP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7315200" y="3566160"/>
            <a:ext cx="3931920" cy="12801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túnel de comunicación abierto mantiene la app, la nube y el hardware sincronizados en milisegundos.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Prototipo IoT · Smart Home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5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se propuso el proyecto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185855" y="502920"/>
            <a:ext cx="118872" cy="118872"/>
          </a:xfrm>
          <a:prstGeom prst="ellipse">
            <a:avLst/>
          </a:prstGeom>
          <a:solidFill>
            <a:srgbClr val="5B5BF5"/>
          </a:solidFill>
          <a:ln/>
        </p:spPr>
      </p:sp>
      <p:sp>
        <p:nvSpPr>
          <p:cNvPr id="5" name="Shape 3"/>
          <p:cNvSpPr/>
          <p:nvPr/>
        </p:nvSpPr>
        <p:spPr>
          <a:xfrm>
            <a:off x="11387023" y="502920"/>
            <a:ext cx="118872" cy="118872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6" name="Shape 4"/>
          <p:cNvSpPr/>
          <p:nvPr/>
        </p:nvSpPr>
        <p:spPr>
          <a:xfrm>
            <a:off x="11588191" y="502920"/>
            <a:ext cx="118872" cy="118872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920240"/>
            <a:ext cx="3538728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68096" y="2157984"/>
            <a:ext cx="146304" cy="146304"/>
          </a:xfrm>
          <a:prstGeom prst="ellipse">
            <a:avLst/>
          </a:prstGeom>
          <a:solidFill>
            <a:srgbClr val="5B5BF5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084832"/>
            <a:ext cx="2898648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general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04672" y="2468880"/>
            <a:ext cx="3081528" cy="2514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un prototipo funcional de casa inteligente (Smart Home) controlado desde una app móvil con latencia mínima de respuesta.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25112" y="1920240"/>
            <a:ext cx="3538728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44568" y="2157984"/>
            <a:ext cx="146304" cy="14630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4782312" y="2084832"/>
            <a:ext cx="2898648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81144" y="2468880"/>
            <a:ext cx="3081528" cy="2514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el nodo físico con un microcontrolador Wi-Fi (ESP8266) que actúe directamente sobre los circuitos de corriente mediante relés.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101584" y="1920240"/>
            <a:ext cx="3538728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21040" y="2157984"/>
            <a:ext cx="146304" cy="14630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7" name="Text 15"/>
          <p:cNvSpPr/>
          <p:nvPr/>
        </p:nvSpPr>
        <p:spPr>
          <a:xfrm>
            <a:off x="8558784" y="2084832"/>
            <a:ext cx="2898648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&amp; Cloud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357616" y="2468880"/>
            <a:ext cx="3081528" cy="2514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un backend con base de datos en tiempo real y una interfaz móvil intuitiva para monitorear y controlar los dispositivos.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Prototipo IoT · Smart Home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5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Ecosistema de extremo a extremo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185855" y="502920"/>
            <a:ext cx="118872" cy="118872"/>
          </a:xfrm>
          <a:prstGeom prst="ellipse">
            <a:avLst/>
          </a:prstGeom>
          <a:solidFill>
            <a:srgbClr val="5B5BF5"/>
          </a:solidFill>
          <a:ln/>
        </p:spPr>
      </p:sp>
      <p:sp>
        <p:nvSpPr>
          <p:cNvPr id="5" name="Shape 3"/>
          <p:cNvSpPr/>
          <p:nvPr/>
        </p:nvSpPr>
        <p:spPr>
          <a:xfrm>
            <a:off x="11387023" y="502920"/>
            <a:ext cx="118872" cy="118872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6" name="Shape 4"/>
          <p:cNvSpPr/>
          <p:nvPr/>
        </p:nvSpPr>
        <p:spPr>
          <a:xfrm>
            <a:off x="11588191" y="502920"/>
            <a:ext cx="118872" cy="118872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7" name="Image 0" descr="/tmp/arquitectura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3728" y="1691640"/>
            <a:ext cx="11064240" cy="414909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app y la simulación de Proteus comparten el mismo estado del relé en PostgreSQL — dos rutas de hardware, un solo resultado físico.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Prototipo IoT · Smart Home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5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stack moderno y probado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185855" y="502920"/>
            <a:ext cx="118872" cy="118872"/>
          </a:xfrm>
          <a:prstGeom prst="ellipse">
            <a:avLst/>
          </a:prstGeom>
          <a:solidFill>
            <a:srgbClr val="5B5BF5"/>
          </a:solidFill>
          <a:ln/>
        </p:spPr>
      </p:sp>
      <p:sp>
        <p:nvSpPr>
          <p:cNvPr id="5" name="Shape 3"/>
          <p:cNvSpPr/>
          <p:nvPr/>
        </p:nvSpPr>
        <p:spPr>
          <a:xfrm>
            <a:off x="11387023" y="502920"/>
            <a:ext cx="118872" cy="118872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6" name="Shape 4"/>
          <p:cNvSpPr/>
          <p:nvPr/>
        </p:nvSpPr>
        <p:spPr>
          <a:xfrm>
            <a:off x="11588191" y="502920"/>
            <a:ext cx="118872" cy="118872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828800"/>
            <a:ext cx="3538728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68096" y="2066544"/>
            <a:ext cx="146304" cy="146304"/>
          </a:xfrm>
          <a:prstGeom prst="ellipse">
            <a:avLst/>
          </a:prstGeom>
          <a:solidFill>
            <a:srgbClr val="5B5BF5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993392"/>
            <a:ext cx="2898648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04672" y="2377440"/>
            <a:ext cx="3081528" cy="79552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multiplataforma (Android/iOS/Web)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Design 3 · Provider · GoRouter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25112" y="1828800"/>
            <a:ext cx="3538728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44568" y="2066544"/>
            <a:ext cx="146304" cy="146304"/>
          </a:xfrm>
          <a:prstGeom prst="ellipse">
            <a:avLst/>
          </a:prstGeom>
          <a:solidFill>
            <a:srgbClr val="3C873A"/>
          </a:solidFill>
          <a:ln/>
        </p:spPr>
      </p:sp>
      <p:sp>
        <p:nvSpPr>
          <p:cNvPr id="13" name="Text 11"/>
          <p:cNvSpPr/>
          <p:nvPr/>
        </p:nvSpPr>
        <p:spPr>
          <a:xfrm>
            <a:off x="4782312" y="1993392"/>
            <a:ext cx="2898648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81144" y="2377440"/>
            <a:ext cx="3081528" cy="79552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para tiempo real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01584" y="1828800"/>
            <a:ext cx="3538728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21040" y="2066544"/>
            <a:ext cx="146304" cy="146304"/>
          </a:xfrm>
          <a:prstGeom prst="ellipse">
            <a:avLst/>
          </a:prstGeom>
          <a:solidFill>
            <a:srgbClr val="336791"/>
          </a:solidFill>
          <a:ln/>
        </p:spPr>
      </p:sp>
      <p:sp>
        <p:nvSpPr>
          <p:cNvPr id="17" name="Text 15"/>
          <p:cNvSpPr/>
          <p:nvPr/>
        </p:nvSpPr>
        <p:spPr>
          <a:xfrm>
            <a:off x="8558784" y="1993392"/>
            <a:ext cx="2898648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357616" y="2377440"/>
            <a:ext cx="3081528" cy="79552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relacional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 · events · users · esp_status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566160"/>
            <a:ext cx="3538728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68096" y="3803904"/>
            <a:ext cx="146304" cy="146304"/>
          </a:xfrm>
          <a:prstGeom prst="ellipse">
            <a:avLst/>
          </a:prstGeom>
          <a:solidFill>
            <a:srgbClr val="6D28D9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3730752"/>
            <a:ext cx="2898648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04672" y="4114800"/>
            <a:ext cx="3081528" cy="79552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Sincronización en vivo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 latencia (túnel abierto)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325112" y="3566160"/>
            <a:ext cx="3538728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44568" y="3803904"/>
            <a:ext cx="146304" cy="146304"/>
          </a:xfrm>
          <a:prstGeom prst="ellipse">
            <a:avLst/>
          </a:prstGeom>
          <a:solidFill>
            <a:srgbClr val="E8710A"/>
          </a:solidFill>
          <a:ln/>
        </p:spPr>
      </p:sp>
      <p:sp>
        <p:nvSpPr>
          <p:cNvPr id="25" name="Text 23"/>
          <p:cNvSpPr/>
          <p:nvPr/>
        </p:nvSpPr>
        <p:spPr>
          <a:xfrm>
            <a:off x="4782312" y="3730752"/>
            <a:ext cx="2898648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ESP8266 (C++)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581144" y="4114800"/>
            <a:ext cx="3081528" cy="79552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 Arduino · Wi-Fi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relés por GPIO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101584" y="3566160"/>
            <a:ext cx="3538728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321040" y="3803904"/>
            <a:ext cx="146304" cy="146304"/>
          </a:xfrm>
          <a:prstGeom prst="ellipse">
            <a:avLst/>
          </a:prstGeom>
          <a:solidFill>
            <a:srgbClr val="00838A"/>
          </a:solidFill>
          <a:ln/>
        </p:spPr>
      </p:sp>
      <p:sp>
        <p:nvSpPr>
          <p:cNvPr id="29" name="Text 27"/>
          <p:cNvSpPr/>
          <p:nvPr/>
        </p:nvSpPr>
        <p:spPr>
          <a:xfrm>
            <a:off x="8558784" y="3730752"/>
            <a:ext cx="2898648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Proteus + Arduino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357616" y="4114800"/>
            <a:ext cx="3081528" cy="79552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Simulación del circuito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COMPIM · puerto serial virtual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Prototipo IoT · Smart Home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5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FUNCIONAMIENTO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de comunicación en 3 pasos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185855" y="502920"/>
            <a:ext cx="118872" cy="118872"/>
          </a:xfrm>
          <a:prstGeom prst="ellipse">
            <a:avLst/>
          </a:prstGeom>
          <a:solidFill>
            <a:srgbClr val="5B5BF5"/>
          </a:solidFill>
          <a:ln/>
        </p:spPr>
      </p:sp>
      <p:sp>
        <p:nvSpPr>
          <p:cNvPr id="5" name="Shape 3"/>
          <p:cNvSpPr/>
          <p:nvPr/>
        </p:nvSpPr>
        <p:spPr>
          <a:xfrm>
            <a:off x="11387023" y="502920"/>
            <a:ext cx="118872" cy="118872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6" name="Shape 4"/>
          <p:cNvSpPr/>
          <p:nvPr/>
        </p:nvSpPr>
        <p:spPr>
          <a:xfrm>
            <a:off x="11588191" y="502920"/>
            <a:ext cx="118872" cy="118872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1965960"/>
            <a:ext cx="338328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14400" y="2286000"/>
            <a:ext cx="685800" cy="685800"/>
          </a:xfrm>
          <a:prstGeom prst="ellipse">
            <a:avLst/>
          </a:prstGeom>
          <a:solidFill>
            <a:srgbClr val="5B5BF5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2860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914400" y="31546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Interacción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3593592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usuario pulsa el interruptor virtual en la app Flutter.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023360" y="29718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434840" y="1965960"/>
            <a:ext cx="338328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2286000"/>
            <a:ext cx="685800" cy="68580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0" y="22860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4754880" y="31546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Sincronización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754880" y="3593592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backend actualiza PostgreSQL y difunde el cambio por WebSocket.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863840" y="29718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8275320" y="1965960"/>
            <a:ext cx="338328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595360" y="2286000"/>
            <a:ext cx="685800" cy="68580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1" name="Text 19"/>
          <p:cNvSpPr/>
          <p:nvPr/>
        </p:nvSpPr>
        <p:spPr>
          <a:xfrm>
            <a:off x="8595360" y="22860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8595360" y="31546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Ejecución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595360" y="3593592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ESP8266 / Arduino recibe el estado, dispara el relé y enciende la carga.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4892040"/>
            <a:ext cx="11091672" cy="1051560"/>
          </a:xfrm>
          <a:prstGeom prst="roundRect">
            <a:avLst>
              <a:gd name="adj" fmla="val 8696"/>
            </a:avLst>
          </a:prstGeom>
          <a:solidFill>
            <a:srgbClr val="EEF2FF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502920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5B5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WebSockets y no HTTP?  </a:t>
            </a:r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Mantienen un túnel abierto, así la latencia entre tocar el botón y encender la carga es imperceptible — crítico en domótica.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Prototipo IoT · Smart Home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5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APLICACIÓN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Flutter con Material Design 3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185855" y="502920"/>
            <a:ext cx="118872" cy="118872"/>
          </a:xfrm>
          <a:prstGeom prst="ellipse">
            <a:avLst/>
          </a:prstGeom>
          <a:solidFill>
            <a:srgbClr val="5B5BF5"/>
          </a:solidFill>
          <a:ln/>
        </p:spPr>
      </p:sp>
      <p:sp>
        <p:nvSpPr>
          <p:cNvPr id="5" name="Shape 3"/>
          <p:cNvSpPr/>
          <p:nvPr/>
        </p:nvSpPr>
        <p:spPr>
          <a:xfrm>
            <a:off x="11387023" y="502920"/>
            <a:ext cx="118872" cy="118872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6" name="Shape 4"/>
          <p:cNvSpPr/>
          <p:nvPr/>
        </p:nvSpPr>
        <p:spPr>
          <a:xfrm>
            <a:off x="11588191" y="502920"/>
            <a:ext cx="118872" cy="118872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828800"/>
            <a:ext cx="3538728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68096" y="2066544"/>
            <a:ext cx="146304" cy="146304"/>
          </a:xfrm>
          <a:prstGeom prst="ellipse">
            <a:avLst/>
          </a:prstGeom>
          <a:solidFill>
            <a:srgbClr val="5B5BF5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993392"/>
            <a:ext cx="2898648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04672" y="2377440"/>
            <a:ext cx="3081528" cy="79552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Registro, login y recuperación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bcrypt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25112" y="1828800"/>
            <a:ext cx="3538728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44568" y="2066544"/>
            <a:ext cx="146304" cy="146304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3" name="Text 11"/>
          <p:cNvSpPr/>
          <p:nvPr/>
        </p:nvSpPr>
        <p:spPr>
          <a:xfrm>
            <a:off x="4782312" y="1993392"/>
            <a:ext cx="2898648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en tiempo real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81144" y="2377440"/>
            <a:ext cx="3081528" cy="79552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Tarjetas por dispositivo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Actualización instantánea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01584" y="1828800"/>
            <a:ext cx="3538728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21040" y="2066544"/>
            <a:ext cx="146304" cy="146304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7" name="Text 15"/>
          <p:cNvSpPr/>
          <p:nvPr/>
        </p:nvSpPr>
        <p:spPr>
          <a:xfrm>
            <a:off x="8558784" y="1993392"/>
            <a:ext cx="2898648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por habitaciones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357616" y="2377440"/>
            <a:ext cx="3081528" cy="79552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Sala, Cocina, Dormitorio…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y última sincronización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566160"/>
            <a:ext cx="3538728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68096" y="3803904"/>
            <a:ext cx="146304" cy="14630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3730752"/>
            <a:ext cx="2898648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del sistema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04672" y="4114800"/>
            <a:ext cx="3081528" cy="79552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IP, SSID, señal Wi-Fi (RSSI)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Uptime y versión de firmware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325112" y="3566160"/>
            <a:ext cx="3538728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44568" y="3803904"/>
            <a:ext cx="146304" cy="14630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4782312" y="3730752"/>
            <a:ext cx="2898648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de eventos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581144" y="4114800"/>
            <a:ext cx="3081528" cy="79552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“Luz Sala encendida a las 19:35”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cada acción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101584" y="3566160"/>
            <a:ext cx="3538728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321040" y="3803904"/>
            <a:ext cx="146304" cy="146304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29" name="Text 27"/>
          <p:cNvSpPr/>
          <p:nvPr/>
        </p:nvSpPr>
        <p:spPr>
          <a:xfrm>
            <a:off x="8558784" y="3730752"/>
            <a:ext cx="2898648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claro / oscuro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357616" y="4114800"/>
            <a:ext cx="3081528" cy="79552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persistente</a:t>
            </a:r>
            <a:endParaRPr lang="en-US" sz="1150" dirty="0"/>
          </a:p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Glassmorphism y animaciones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Prototipo IoT · Smart Home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5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&amp; SIMULACIÓN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bit al relé de 120 V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185855" y="502920"/>
            <a:ext cx="118872" cy="118872"/>
          </a:xfrm>
          <a:prstGeom prst="ellipse">
            <a:avLst/>
          </a:prstGeom>
          <a:solidFill>
            <a:srgbClr val="5B5BF5"/>
          </a:solidFill>
          <a:ln/>
        </p:spPr>
      </p:sp>
      <p:sp>
        <p:nvSpPr>
          <p:cNvPr id="5" name="Shape 3"/>
          <p:cNvSpPr/>
          <p:nvPr/>
        </p:nvSpPr>
        <p:spPr>
          <a:xfrm>
            <a:off x="11387023" y="502920"/>
            <a:ext cx="118872" cy="118872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6" name="Shape 4"/>
          <p:cNvSpPr/>
          <p:nvPr/>
        </p:nvSpPr>
        <p:spPr>
          <a:xfrm>
            <a:off x="11588191" y="502920"/>
            <a:ext cx="118872" cy="118872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828800"/>
            <a:ext cx="539496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68096" y="2066544"/>
            <a:ext cx="146304" cy="14630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993392"/>
            <a:ext cx="475488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Nodo físico y actuación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04672" y="2377440"/>
            <a:ext cx="4937760" cy="10515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NodeMCU ESP8266 (o Arduino en Proteus) controla 4 relés por GPIO 5 · 4 · 14 · 12.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2 → R2 → transistor 2N2222 → bobina del relé (con diodo 1N4007) → conmuta la lámpara de 120 V AC.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703320"/>
            <a:ext cx="539496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68096" y="3941064"/>
            <a:ext cx="146304" cy="146304"/>
          </a:xfrm>
          <a:prstGeom prst="ellipse">
            <a:avLst/>
          </a:prstGeom>
          <a:solidFill>
            <a:srgbClr val="00838A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867912"/>
            <a:ext cx="475488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Simulación en Proteus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04672" y="4251960"/>
            <a:ext cx="4937760" cy="10515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puente (bridge.js) consulta /api/estado y envía 1 o 0 por el puerto serial.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COMPIM + VSPD enlazan COM1 ⇄ COM2 (todo virtual, sin hardware físico).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172200" y="1828800"/>
            <a:ext cx="5468112" cy="3611880"/>
          </a:xfrm>
          <a:prstGeom prst="roundRect">
            <a:avLst>
              <a:gd name="adj" fmla="val 3038"/>
            </a:avLst>
          </a:prstGeom>
          <a:solidFill>
            <a:srgbClr val="0B1020"/>
          </a:solidFill>
          <a:ln/>
        </p:spPr>
      </p:sp>
      <p:sp>
        <p:nvSpPr>
          <p:cNvPr id="16" name="Text 14"/>
          <p:cNvSpPr/>
          <p:nvPr/>
        </p:nvSpPr>
        <p:spPr>
          <a:xfrm>
            <a:off x="6446520" y="205740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CADENA DE ACTUACIÓN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46520" y="2514600"/>
            <a:ext cx="4937760" cy="475488"/>
          </a:xfrm>
          <a:prstGeom prst="roundRect">
            <a:avLst>
              <a:gd name="adj" fmla="val 11538"/>
            </a:avLst>
          </a:prstGeom>
          <a:solidFill>
            <a:srgbClr val="18213B"/>
          </a:solidFill>
          <a:ln w="12700">
            <a:solidFill>
              <a:srgbClr val="3A4A7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29400" y="2514600"/>
            <a:ext cx="4572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Comando 1 / 0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446520" y="3090672"/>
            <a:ext cx="4937760" cy="475488"/>
          </a:xfrm>
          <a:prstGeom prst="roundRect">
            <a:avLst>
              <a:gd name="adj" fmla="val 11538"/>
            </a:avLst>
          </a:prstGeom>
          <a:solidFill>
            <a:srgbClr val="18213B"/>
          </a:solidFill>
          <a:ln w="12700">
            <a:solidFill>
              <a:srgbClr val="3A4A7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29400" y="3090672"/>
            <a:ext cx="4572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2 (GPIO)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446520" y="3666744"/>
            <a:ext cx="4937760" cy="475488"/>
          </a:xfrm>
          <a:prstGeom prst="roundRect">
            <a:avLst>
              <a:gd name="adj" fmla="val 11538"/>
            </a:avLst>
          </a:prstGeom>
          <a:solidFill>
            <a:srgbClr val="18213B"/>
          </a:solidFill>
          <a:ln w="12700">
            <a:solidFill>
              <a:srgbClr val="3A4A7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29400" y="3666744"/>
            <a:ext cx="4572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Transistor 2N2222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446520" y="4242816"/>
            <a:ext cx="4937760" cy="475488"/>
          </a:xfrm>
          <a:prstGeom prst="roundRect">
            <a:avLst>
              <a:gd name="adj" fmla="val 11538"/>
            </a:avLst>
          </a:prstGeom>
          <a:solidFill>
            <a:srgbClr val="18213B"/>
          </a:solidFill>
          <a:ln w="12700">
            <a:solidFill>
              <a:srgbClr val="3A4A7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29400" y="4242816"/>
            <a:ext cx="4572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Relé RL1 (5 V)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446520" y="4818888"/>
            <a:ext cx="4937760" cy="475488"/>
          </a:xfrm>
          <a:prstGeom prst="roundRect">
            <a:avLst>
              <a:gd name="adj" fmla="val 11538"/>
            </a:avLst>
          </a:prstGeom>
          <a:solidFill>
            <a:srgbClr val="18213B"/>
          </a:solidFill>
          <a:ln w="12700">
            <a:solidFill>
              <a:srgbClr val="3A4A7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29400" y="4818888"/>
            <a:ext cx="4572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Lámpara 120 V AC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Prototipo IoT · Smart Home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5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 E INGENIERÍA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prototipo con rigor de producción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185855" y="502920"/>
            <a:ext cx="118872" cy="118872"/>
          </a:xfrm>
          <a:prstGeom prst="ellipse">
            <a:avLst/>
          </a:prstGeom>
          <a:solidFill>
            <a:srgbClr val="5B5BF5"/>
          </a:solidFill>
          <a:ln/>
        </p:spPr>
      </p:sp>
      <p:sp>
        <p:nvSpPr>
          <p:cNvPr id="5" name="Shape 3"/>
          <p:cNvSpPr/>
          <p:nvPr/>
        </p:nvSpPr>
        <p:spPr>
          <a:xfrm>
            <a:off x="11387023" y="502920"/>
            <a:ext cx="118872" cy="118872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6" name="Shape 4"/>
          <p:cNvSpPr/>
          <p:nvPr/>
        </p:nvSpPr>
        <p:spPr>
          <a:xfrm>
            <a:off x="11588191" y="502920"/>
            <a:ext cx="118872" cy="118872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874520"/>
            <a:ext cx="3538728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2039112"/>
            <a:ext cx="35387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5B5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685800" y="2715768"/>
            <a:ext cx="3264408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automatizadas (Jest + Supertest)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25112" y="1874520"/>
            <a:ext cx="3538728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325112" y="2039112"/>
            <a:ext cx="35387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4462272" y="2715768"/>
            <a:ext cx="3264408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Suites, 100% en verde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101584" y="1874520"/>
            <a:ext cx="3538728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101584" y="2039112"/>
            <a:ext cx="35387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8238744" y="2715768"/>
            <a:ext cx="3264408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en cada push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749040"/>
            <a:ext cx="5431536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68096" y="3986784"/>
            <a:ext cx="146304" cy="146304"/>
          </a:xfrm>
          <a:prstGeom prst="ellipse">
            <a:avLst/>
          </a:prstGeom>
          <a:solidFill>
            <a:srgbClr val="336791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3913632"/>
            <a:ext cx="4791456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limpia (Clean Architecture)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04672" y="4297680"/>
            <a:ext cx="4974336" cy="10515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Separación en modelos · servicios · repositorios · controladores.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Principios SOLID y código documentado.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08776" y="3749040"/>
            <a:ext cx="5431536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28232" y="3986784"/>
            <a:ext cx="146304" cy="146304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2" name="Text 20"/>
          <p:cNvSpPr/>
          <p:nvPr/>
        </p:nvSpPr>
        <p:spPr>
          <a:xfrm>
            <a:off x="6665976" y="3913632"/>
            <a:ext cx="4791456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y pruebas sin fricción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64808" y="4297680"/>
            <a:ext cx="4974336" cy="10515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Contraseñas con bcrypt y sesiones con JWT; clave para el dispositivo.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pg-mem: las pruebas corren sin base de datos externa.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Prototipo IoT · Smart Home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5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 y entregables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185855" y="502920"/>
            <a:ext cx="118872" cy="118872"/>
          </a:xfrm>
          <a:prstGeom prst="ellipse">
            <a:avLst/>
          </a:prstGeom>
          <a:solidFill>
            <a:srgbClr val="5B5BF5"/>
          </a:solidFill>
          <a:ln/>
        </p:spPr>
      </p:sp>
      <p:sp>
        <p:nvSpPr>
          <p:cNvPr id="5" name="Shape 3"/>
          <p:cNvSpPr/>
          <p:nvPr/>
        </p:nvSpPr>
        <p:spPr>
          <a:xfrm>
            <a:off x="11387023" y="502920"/>
            <a:ext cx="118872" cy="118872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6" name="Shape 4"/>
          <p:cNvSpPr/>
          <p:nvPr/>
        </p:nvSpPr>
        <p:spPr>
          <a:xfrm>
            <a:off x="11588191" y="502920"/>
            <a:ext cx="118872" cy="118872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920240"/>
            <a:ext cx="3538728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68096" y="2157984"/>
            <a:ext cx="146304" cy="14630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084832"/>
            <a:ext cx="2898648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Prototipo de hardware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04672" y="2468880"/>
            <a:ext cx="3081528" cy="2514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Circuito ensamblado en protoboard: módulo ESP8266, resistencias, LEDs indicadores y relés.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25112" y="1920240"/>
            <a:ext cx="3538728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44568" y="2157984"/>
            <a:ext cx="146304" cy="146304"/>
          </a:xfrm>
          <a:prstGeom prst="ellipse">
            <a:avLst/>
          </a:prstGeom>
          <a:solidFill>
            <a:srgbClr val="5B5BF5"/>
          </a:solidFill>
          <a:ln/>
        </p:spPr>
      </p:sp>
      <p:sp>
        <p:nvSpPr>
          <p:cNvPr id="13" name="Text 11"/>
          <p:cNvSpPr/>
          <p:nvPr/>
        </p:nvSpPr>
        <p:spPr>
          <a:xfrm>
            <a:off x="4782312" y="2084832"/>
            <a:ext cx="2898648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instalado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81144" y="2468880"/>
            <a:ext cx="3081528" cy="2514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multiplataforma en Flutter, instalada y corriendo con fluidez en el smartphone.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101584" y="1920240"/>
            <a:ext cx="3538728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21040" y="2157984"/>
            <a:ext cx="146304" cy="146304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7" name="Text 15"/>
          <p:cNvSpPr/>
          <p:nvPr/>
        </p:nvSpPr>
        <p:spPr>
          <a:xfrm>
            <a:off x="8558784" y="2084832"/>
            <a:ext cx="2898648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Telemetría en vivo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357616" y="2468880"/>
            <a:ext cx="3081528" cy="2514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Operación del circuito con datos móviles (simulando estar fuera de casa) accionando la carga por internet, al instante.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Prototipo IoT · Smart Home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5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Logros y trabajo futuro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185855" y="502920"/>
            <a:ext cx="118872" cy="118872"/>
          </a:xfrm>
          <a:prstGeom prst="ellipse">
            <a:avLst/>
          </a:prstGeom>
          <a:solidFill>
            <a:srgbClr val="5B5BF5"/>
          </a:solidFill>
          <a:ln/>
        </p:spPr>
      </p:sp>
      <p:sp>
        <p:nvSpPr>
          <p:cNvPr id="5" name="Shape 3"/>
          <p:cNvSpPr/>
          <p:nvPr/>
        </p:nvSpPr>
        <p:spPr>
          <a:xfrm>
            <a:off x="11387023" y="502920"/>
            <a:ext cx="118872" cy="118872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6" name="Shape 4"/>
          <p:cNvSpPr/>
          <p:nvPr/>
        </p:nvSpPr>
        <p:spPr>
          <a:xfrm>
            <a:off x="11588191" y="502920"/>
            <a:ext cx="118872" cy="118872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874520"/>
            <a:ext cx="5431536" cy="356616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68096" y="2112264"/>
            <a:ext cx="146304" cy="14630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039112"/>
            <a:ext cx="4791456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Logros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04672" y="2423160"/>
            <a:ext cx="4974336" cy="2880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Ecosistema IoT funcional de extremo a extremo.</a:t>
            </a:r>
            <a:endParaRPr lang="en-US" sz="1350" dirty="0"/>
          </a:p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Sincronización en tiempo real (WebSocket).</a:t>
            </a:r>
            <a:endParaRPr lang="en-US" sz="1350" dirty="0"/>
          </a:p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limpia, documentada y probada (32 tests).</a:t>
            </a:r>
            <a:endParaRPr lang="en-US" sz="1350" dirty="0"/>
          </a:p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Doble ruta de hardware: ESP8266 real y Arduino simulado en Proteus.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208776" y="1874520"/>
            <a:ext cx="5431536" cy="356616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28232" y="2112264"/>
            <a:ext cx="146304" cy="146304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3" name="Text 11"/>
          <p:cNvSpPr/>
          <p:nvPr/>
        </p:nvSpPr>
        <p:spPr>
          <a:xfrm>
            <a:off x="6665976" y="2039112"/>
            <a:ext cx="4791456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futuro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64808" y="2423160"/>
            <a:ext cx="4974336" cy="2880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Envío real de correo (SMTP) para recuperación de contraseña.</a:t>
            </a:r>
            <a:endParaRPr lang="en-US" sz="1350" dirty="0"/>
          </a:p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tipos de dispositivos y programación de horarios.</a:t>
            </a:r>
            <a:endParaRPr lang="en-US" sz="1350" dirty="0"/>
          </a:p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y despliegue del backend en la nube.</a:t>
            </a:r>
            <a:endParaRPr lang="en-US" sz="1350" dirty="0"/>
          </a:p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 push y métricas históricas de consumo.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Prototipo IoT · Smart Home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280160"/>
            <a:ext cx="118872" cy="118872"/>
          </a:xfrm>
          <a:prstGeom prst="ellipse">
            <a:avLst/>
          </a:prstGeom>
          <a:solidFill>
            <a:srgbClr val="5B5BF5"/>
          </a:solidFill>
          <a:ln/>
        </p:spPr>
      </p:sp>
      <p:sp>
        <p:nvSpPr>
          <p:cNvPr id="3" name="Shape 1"/>
          <p:cNvSpPr/>
          <p:nvPr/>
        </p:nvSpPr>
        <p:spPr>
          <a:xfrm>
            <a:off x="749808" y="1280160"/>
            <a:ext cx="118872" cy="118872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4" name="Shape 2"/>
          <p:cNvSpPr/>
          <p:nvPr/>
        </p:nvSpPr>
        <p:spPr>
          <a:xfrm>
            <a:off x="950976" y="1280160"/>
            <a:ext cx="118872" cy="118872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01168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Demostración en vivo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548640" y="31089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¿Preguntas sobre el prototipo?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52120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Valeryn Duque</a:t>
            </a:r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&amp;   </a:t>
            </a:r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Juan Vrasmatas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5669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Defensa — Prototipo de Sistema IoT para Domotica</dc:title>
  <dc:subject>PptxGenJS Presentation</dc:subject>
  <dc:creator>Valeryn Duque &amp; Juan Vrasmatas</dc:creator>
  <cp:lastModifiedBy>Valeryn Duque &amp; Juan Vrasmatas</cp:lastModifiedBy>
  <cp:revision>1</cp:revision>
  <dcterms:created xsi:type="dcterms:W3CDTF">2026-07-25T21:22:02Z</dcterms:created>
  <dcterms:modified xsi:type="dcterms:W3CDTF">2026-07-25T21:22:03Z</dcterms:modified>
</cp:coreProperties>
</file>